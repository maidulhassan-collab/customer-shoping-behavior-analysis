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Kanit Thin"/>
      <p:regular r:id="rId201314"/>
    </p:embeddedFont>
    <p:embeddedFont>
      <p:font typeface="Kanit ExtraLight"/>
      <p:regular r:id="rId201315"/>
    </p:embeddedFont>
    <p:embeddedFont>
      <p:font typeface="Kanit Bold"/>
      <p:regular r:id="rId201316"/>
    </p:embeddedFont>
    <p:embeddedFont>
      <p:font typeface="Kanit ExtraBold"/>
      <p:regular r:id="rId201317"/>
    </p:embeddedFont>
    <p:embeddedFont>
      <p:font typeface="Kanit Black"/>
      <p:regular r:id="rId201318"/>
    </p:embeddedFont>
    <p:embeddedFont>
      <p:font typeface="Kanit Light"/>
      <p:regular r:id="rId201319"/>
    </p:embeddedFont>
    <p:embeddedFont>
      <p:font typeface="Kanit"/>
      <p:regular r:id="rId201320"/>
    </p:embeddedFont>
    <p:embeddedFont>
      <p:font typeface="Kanit Medium"/>
      <p:regular r:id="rId201321"/>
    </p:embeddedFont>
    <p:embeddedFont>
      <p:font typeface="Kanit SemiBold"/>
      <p:regular r:id="rId201322"/>
    </p:embeddedFont>
    <p:embeddedFont>
      <p:font typeface="Martel Sans ExtraLight"/>
      <p:regular r:id="rId201323"/>
    </p:embeddedFont>
    <p:embeddedFont>
      <p:font typeface="Martel Sans Light"/>
      <p:regular r:id="rId201324"/>
    </p:embeddedFont>
    <p:embeddedFont>
      <p:font typeface="Martel Sans"/>
      <p:regular r:id="rId201325"/>
    </p:embeddedFont>
    <p:embeddedFont>
      <p:font typeface="Martel Sans SemiBold"/>
      <p:regular r:id="rId201326"/>
    </p:embeddedFont>
    <p:embeddedFont>
      <p:font typeface="Martel Sans Bold"/>
      <p:regular r:id="rId201327"/>
    </p:embeddedFont>
    <p:embeddedFont>
      <p:font typeface="Martel Sans ExtraBold"/>
      <p:regular r:id="rId201328"/>
    </p:embeddedFont>
    <p:embeddedFont>
      <p:font typeface="Martel Sans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66047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764854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across product categories — spending patterns, customer segments, and strategic opportunities.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52884"/>
            <a:ext cx="4667845" cy="288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Dataset at a Glance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23577" y="887313"/>
            <a:ext cx="4667845" cy="323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3,900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523577" y="1308646"/>
            <a:ext cx="4667845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23577" y="1491630"/>
            <a:ext cx="4667845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Rows in the dataset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23577" y="1799481"/>
            <a:ext cx="4667845" cy="323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18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523577" y="2220813"/>
            <a:ext cx="4667845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Columns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23577" y="2403797"/>
            <a:ext cx="4667845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Features per record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23577" y="2711648"/>
            <a:ext cx="4667845" cy="323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37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523577" y="3132981"/>
            <a:ext cx="4667845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3577" y="3315965"/>
            <a:ext cx="4667845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In Review Rating only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23577" y="3623816"/>
            <a:ext cx="4667845" cy="323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5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$59.76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523577" y="4045148"/>
            <a:ext cx="4667845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Avg. Purchase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23577" y="4228133"/>
            <a:ext cx="4667845" cy="130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Mean transaction value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23577" y="4430613"/>
            <a:ext cx="4667845" cy="2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Key features: demographics (Age, Gender, Location), purchase details (Category, Amount, Season), and behavior signals (Discount, Subscription, Review Rating).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49101"/>
            <a:ext cx="8096845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Preparation in Python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83581"/>
            <a:ext cx="5153174" cy="292008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3315" y="1221172"/>
            <a:ext cx="192807" cy="1928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12855" y="1217191"/>
            <a:ext cx="221225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Cleaning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412855" y="1516707"/>
            <a:ext cx="2212256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Imputed missing Review Ratings using median by product category; standardized columns to snake_case.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3315" y="2506600"/>
            <a:ext cx="192807" cy="1928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12855" y="2502619"/>
            <a:ext cx="221225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Feature Engineering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412855" y="2802136"/>
            <a:ext cx="2212256" cy="764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Created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age_group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(binned ages) and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purchase_frequency_days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; dropped redundant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promo_code_used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3315" y="3792029"/>
            <a:ext cx="192807" cy="1928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12855" y="3788048"/>
            <a:ext cx="2212256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Database Integration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412855" y="4087564"/>
            <a:ext cx="2212256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Loaded cleaned DataFrame into </a:t>
            </a:r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PostgreSQL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for SQL-based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Revenue &amp; Spending Insights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Gender Revenue Gap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than female customers ($157,890 vs. $75,191).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759226" y="2491755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Discount Users Still Spend More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59226" y="2861295"/>
            <a:ext cx="386595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839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used discounts yet spent </a:t>
            </a:r>
            <a:pPr algn="l" indent="0" marL="0">
              <a:lnSpc>
                <a:spcPct val="133000"/>
              </a:lnSpc>
              <a:buNone/>
            </a:pPr>
            <a:r>
              <a:rPr lang="en-US" sz="1150" i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above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the average purchase amount — indicating high-value, deal-seeking buyers.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Top Products &amp; Shipping Behavior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Express Shipping Premium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Express shipping averages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for Standard — a $2.02 uplift per order.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759226" y="2491755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Most Discounted Products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59226" y="2861295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Jacket (39%), Skirt (38%), Sandals (36%), Blouse (33%), Socks (32%) — highest discount rates in the catalog.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1293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45555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326877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Findings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9226" y="1715095"/>
            <a:ext cx="3865959" cy="816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04048" y="1883718"/>
            <a:ext cx="345251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2,847 non-subscribers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1,053 subscribers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a 73% / 27% split.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9226" y="2680692"/>
            <a:ext cx="3865959" cy="816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04048" y="2849314"/>
            <a:ext cx="345251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Average spend is nearly identical: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$59.87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(non-subscribers) vs.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$59.49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(subscribers).</a:t>
            </a:r>
            <a:endParaRPr lang="en-US" sz="11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9226" y="3646289"/>
            <a:ext cx="3865959" cy="8160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04048" y="3814911"/>
            <a:ext cx="345251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Of customers with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&gt;5 purchases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958 are subscribers vs. 2,518 non-subscribers.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832991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1497360"/>
            <a:ext cx="2259137" cy="1571179"/>
          </a:xfrm>
          <a:prstGeom prst="roundRect">
            <a:avLst>
              <a:gd name="adj" fmla="val 1428"/>
            </a:avLst>
          </a:prstGeom>
          <a:solidFill>
            <a:srgbClr val="2F2B54"/>
          </a:solidFill>
          <a:ln/>
        </p:spPr>
      </p:sp>
      <p:sp>
        <p:nvSpPr>
          <p:cNvPr id="5" name="Text 2"/>
          <p:cNvSpPr/>
          <p:nvPr/>
        </p:nvSpPr>
        <p:spPr>
          <a:xfrm>
            <a:off x="4102150" y="1646932"/>
            <a:ext cx="1959992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02150" y="1961406"/>
            <a:ext cx="195999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3,116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the dominant segment, representing 80% of the base.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61286" y="1497360"/>
            <a:ext cx="2259137" cy="1571179"/>
          </a:xfrm>
          <a:prstGeom prst="roundRect">
            <a:avLst>
              <a:gd name="adj" fmla="val 1428"/>
            </a:avLst>
          </a:prstGeom>
          <a:solidFill>
            <a:srgbClr val="2F2B54"/>
          </a:solidFill>
          <a:ln/>
        </p:spPr>
      </p:sp>
      <p:sp>
        <p:nvSpPr>
          <p:cNvPr id="8" name="Text 5"/>
          <p:cNvSpPr/>
          <p:nvPr/>
        </p:nvSpPr>
        <p:spPr>
          <a:xfrm>
            <a:off x="6510858" y="1646932"/>
            <a:ext cx="1959992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0858" y="1961406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701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repeat buyers with potential to convert to Loyal.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952577" y="3218111"/>
            <a:ext cx="4667845" cy="1092398"/>
          </a:xfrm>
          <a:prstGeom prst="roundRect">
            <a:avLst>
              <a:gd name="adj" fmla="val 2054"/>
            </a:avLst>
          </a:prstGeom>
          <a:solidFill>
            <a:srgbClr val="2F2B54"/>
          </a:solidFill>
          <a:ln/>
        </p:spPr>
      </p:sp>
      <p:sp>
        <p:nvSpPr>
          <p:cNvPr id="11" name="Text 8"/>
          <p:cNvSpPr/>
          <p:nvPr/>
        </p:nvSpPr>
        <p:spPr>
          <a:xfrm>
            <a:off x="4102150" y="3367683"/>
            <a:ext cx="4368701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 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02150" y="3682157"/>
            <a:ext cx="43687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83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smallest segment; prime target for onboarding campaigns.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9953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Revenue by Age Group &amp; Top Products per Category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732583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713905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Top 3 Products per Category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2083445"/>
            <a:ext cx="3865959" cy="1593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Accessories: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Jewelry (171), Sunglasses (161), Belt (161)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Clothing: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Blouse (171), Pants (171), Shirt (169)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Footwear: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Sandals (160), Shoes (150), Sneakers (145)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Outerwear: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Jacket (163), Coat (161)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759226" y="3811339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Young Adults lead revenue; Clothing and Accessories dominate order volume across all groups.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680442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2577" y="1344811"/>
            <a:ext cx="299219" cy="29921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38799" y="1396231"/>
            <a:ext cx="4181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Key KPIs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38799" y="1705942"/>
            <a:ext cx="418162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3.9K customers · 3.75 avg. rating · $59.76 avg. purchase amount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2483941"/>
            <a:ext cx="299219" cy="29921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38799" y="2535362"/>
            <a:ext cx="4181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Subscription Distribution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38799" y="2845073"/>
            <a:ext cx="418162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~75% subscribed vs. ~25% non-subscribed, visualized as a donut chart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577" y="3623072"/>
            <a:ext cx="299219" cy="2992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38799" y="3674492"/>
            <a:ext cx="418162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Revenue by Category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38799" y="3984203"/>
            <a:ext cx="418162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Clothing (~$100K) leads, followed by Accessories (~$75K), Footwear (~$40K), Outerwear (~$15K)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5282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292051"/>
            <a:ext cx="3973637" cy="1574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98216" y="1395264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92200" y="1909465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92200" y="2219176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Promote exclusive subscriber benefits to grow the 27% base.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6786" y="1292051"/>
            <a:ext cx="3973637" cy="15745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21425" y="1395264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815408" y="1909465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15408" y="2219176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Reward repeat buyers to convert the 701 Returning customers into Loyal.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016151"/>
            <a:ext cx="3973637" cy="15745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98216" y="3119363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92200" y="3633564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92200" y="3943276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Balance discount-driven sales with margin control — 839 high-spend discount users show opportunity.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6786" y="3016151"/>
            <a:ext cx="3973637" cy="15745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21425" y="3119363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4815408" y="3633564"/>
            <a:ext cx="36363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Product &amp; Marketing Focus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815408" y="3943276"/>
            <a:ext cx="363639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Highlight top-rated products; target Young Adults and express-shipping users for campaigns.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2026-07-28T20:21:30Z</dcterms:created>
  <dcterms:modified xsi:type="dcterms:W3CDTF">2026-07-28T20:21:30Z</dcterms:modified>
</cp:coreProperties>
</file>